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media/image1.svg" ContentType="image/svg+xml"/>
  <Override PartName="/ppt/media/image11.svg" ContentType="image/svg+xml"/>
  <Override PartName="/ppt/media/image148.svg" ContentType="image/svg+xml"/>
  <Override PartName="/ppt/media/image152.svg" ContentType="image/svg+xml"/>
  <Override PartName="/ppt/media/image212.svg" ContentType="image/svg+xml"/>
  <Override PartName="/ppt/media/image23.svg" ContentType="image/svg+xml"/>
  <Override PartName="/ppt/media/image28.svg" ContentType="image/svg+xml"/>
  <Override PartName="/ppt/media/image316.svg" ContentType="image/svg+xml"/>
  <Override PartName="/ppt/media/image382.svg" ContentType="image/svg+xml"/>
  <Override PartName="/ppt/media/image4.svg" ContentType="image/svg+xml"/>
  <Override PartName="/ppt/media/image481.svg" ContentType="image/svg+xml"/>
  <Override PartName="/ppt/media/image662.svg" ContentType="image/svg+xml"/>
  <Override PartName="/ppt/media/image713.svg" ContentType="image/svg+xml"/>
  <Override PartName="/ppt/media/image797.svg" ContentType="image/svg+xml"/>
  <Override PartName="/ppt/media/image8.svg" ContentType="image/svg+xml"/>
  <Override PartName="/ppt/media/image8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27" r:id="rId2"/>
  </p:sldMasterIdLst>
  <p:notesMasterIdLst>
    <p:notesMasterId r:id="rId159"/>
  </p:notesMasterIdLst>
  <p:sldIdLst>
    <p:sldId id="256" r:id="rId1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059F9E-C46A-B547-B2F2-24DE96B4FEB2}">
          <p14:sldIdLst>
            <p14:sldId id="546"/>
            <p14:sldId id="534"/>
            <p14:sldId id="258"/>
            <p14:sldId id="547"/>
            <p14:sldId id="535"/>
            <p14:sldId id="551"/>
            <p14:sldId id="262"/>
            <p14:sldId id="533"/>
            <p14:sldId id="452"/>
            <p14:sldId id="548"/>
            <p14:sldId id="536"/>
            <p14:sldId id="537"/>
            <p14:sldId id="578"/>
            <p14:sldId id="539"/>
            <p14:sldId id="540"/>
            <p14:sldId id="541"/>
            <p14:sldId id="581"/>
            <p14:sldId id="543"/>
            <p14:sldId id="549"/>
            <p14:sldId id="455"/>
            <p14:sldId id="456"/>
            <p14:sldId id="550"/>
            <p14:sldId id="544"/>
            <p14:sldId id="281"/>
            <p14:sldId id="450"/>
            <p14:sldId id="509"/>
            <p14:sldId id="531"/>
            <p14:sldId id="577"/>
            <p14:sldId id="497"/>
            <p14:sldId id="284"/>
            <p14:sldId id="439"/>
            <p14:sldId id="286"/>
            <p14:sldId id="287"/>
            <p14:sldId id="288"/>
            <p14:sldId id="387"/>
            <p14:sldId id="511"/>
            <p14:sldId id="289"/>
            <p14:sldId id="290"/>
            <p14:sldId id="291"/>
            <p14:sldId id="392"/>
            <p14:sldId id="336"/>
            <p14:sldId id="337"/>
            <p14:sldId id="338"/>
            <p14:sldId id="339"/>
            <p14:sldId id="340"/>
            <p14:sldId id="341"/>
            <p14:sldId id="342"/>
            <p14:sldId id="401"/>
            <p14:sldId id="402"/>
            <p14:sldId id="482"/>
            <p14:sldId id="582"/>
            <p14:sldId id="297"/>
            <p14:sldId id="298"/>
            <p14:sldId id="299"/>
            <p14:sldId id="300"/>
            <p14:sldId id="464"/>
            <p14:sldId id="468"/>
            <p14:sldId id="512"/>
            <p14:sldId id="294"/>
            <p14:sldId id="295"/>
            <p14:sldId id="296"/>
            <p14:sldId id="301"/>
            <p14:sldId id="433"/>
            <p14:sldId id="304"/>
            <p14:sldId id="525"/>
            <p14:sldId id="528"/>
            <p14:sldId id="529"/>
            <p14:sldId id="530"/>
            <p14:sldId id="513"/>
            <p14:sldId id="385"/>
            <p14:sldId id="386"/>
            <p14:sldId id="399"/>
            <p14:sldId id="311"/>
            <p14:sldId id="312"/>
            <p14:sldId id="400"/>
            <p14:sldId id="469"/>
            <p14:sldId id="466"/>
            <p14:sldId id="315"/>
            <p14:sldId id="316"/>
            <p14:sldId id="317"/>
            <p14:sldId id="318"/>
            <p14:sldId id="480"/>
            <p14:sldId id="321"/>
            <p14:sldId id="322"/>
            <p14:sldId id="323"/>
            <p14:sldId id="324"/>
            <p14:sldId id="325"/>
            <p14:sldId id="470"/>
            <p14:sldId id="612"/>
            <p14:sldId id="326"/>
            <p14:sldId id="327"/>
            <p14:sldId id="357"/>
            <p14:sldId id="358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619"/>
            <p14:sldId id="593"/>
            <p14:sldId id="594"/>
            <p14:sldId id="595"/>
            <p14:sldId id="596"/>
            <p14:sldId id="597"/>
            <p14:sldId id="610"/>
            <p14:sldId id="611"/>
            <p14:sldId id="354"/>
            <p14:sldId id="355"/>
            <p14:sldId id="356"/>
            <p14:sldId id="613"/>
            <p14:sldId id="616"/>
            <p14:sldId id="617"/>
            <p14:sldId id="598"/>
            <p14:sldId id="599"/>
            <p14:sldId id="600"/>
            <p14:sldId id="601"/>
            <p14:sldId id="602"/>
            <p14:sldId id="603"/>
            <p14:sldId id="609"/>
            <p14:sldId id="604"/>
            <p14:sldId id="366"/>
            <p14:sldId id="605"/>
            <p14:sldId id="606"/>
            <p14:sldId id="371"/>
            <p14:sldId id="372"/>
            <p14:sldId id="373"/>
            <p14:sldId id="374"/>
            <p14:sldId id="375"/>
            <p14:sldId id="376"/>
            <p14:sldId id="404"/>
            <p14:sldId id="515"/>
            <p14:sldId id="618"/>
            <p14:sldId id="406"/>
            <p14:sldId id="417"/>
            <p14:sldId id="377"/>
            <p14:sldId id="378"/>
            <p14:sldId id="379"/>
            <p14:sldId id="519"/>
            <p14:sldId id="380"/>
            <p14:sldId id="485"/>
            <p14:sldId id="615"/>
            <p14:sldId id="614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44">
          <p15:clr>
            <a:srgbClr val="A4A3A4"/>
          </p15:clr>
        </p15:guide>
        <p15:guide id="2" pos="1872">
          <p15:clr>
            <a:srgbClr val="A4A3A4"/>
          </p15:clr>
        </p15:guide>
        <p15:guide id="3" pos="4176">
          <p15:clr>
            <a:srgbClr val="A4A3A4"/>
          </p15:clr>
        </p15:guide>
        <p15:guide id="4" pos="5496">
          <p15:clr>
            <a:srgbClr val="A4A3A4"/>
          </p15:clr>
        </p15:guide>
        <p15:guide id="5" orient="horz" pos="1224">
          <p15:clr>
            <a:srgbClr val="A4A3A4"/>
          </p15:clr>
        </p15:guide>
        <p15:guide id="6" orient="horz" pos="3624">
          <p15:clr>
            <a:srgbClr val="A4A3A4"/>
          </p15:clr>
        </p15:guide>
        <p15:guide id="7" orient="horz" pos="20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8428B0-A610-6AC2-1E30-1B1B2D72BE2B}" name="Knott, Candy [C]" initials="KC[" userId="Knott, Candy [C]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20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Papadakis Kantos, Yianna" initials="PKY" lastIdx="4" clrIdx="1">
    <p:extLst>
      <p:ext uri="{19B8F6BF-5375-455C-9EA6-DF929625EA0E}">
        <p15:presenceInfo xmlns:p15="http://schemas.microsoft.com/office/powerpoint/2012/main" userId="Papadakis Kantos, Yian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344C"/>
    <a:srgbClr val="232F3E"/>
    <a:srgbClr val="01A88D"/>
    <a:srgbClr val="7AA116"/>
    <a:srgbClr val="ED7100"/>
    <a:srgbClr val="E7157B"/>
    <a:srgbClr val="C925D1"/>
    <a:srgbClr val="8C4FFF"/>
    <a:srgbClr val="9BA7B6"/>
    <a:srgbClr val="8FA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64"/>
    <p:restoredTop sz="94859" autoAdjust="0"/>
  </p:normalViewPr>
  <p:slideViewPr>
    <p:cSldViewPr snapToGrid="0" snapToObjects="1">
      <p:cViewPr varScale="1">
        <p:scale>
          <a:sx n="113" d="100"/>
          <a:sy n="113" d="100"/>
        </p:scale>
        <p:origin x="192" y="824"/>
      </p:cViewPr>
      <p:guideLst>
        <p:guide orient="horz" pos="744"/>
        <p:guide pos="1872"/>
        <p:guide pos="4176"/>
        <p:guide pos="5496"/>
        <p:guide orient="horz" pos="1224"/>
        <p:guide orient="horz" pos="3624"/>
        <p:guide orient="horz" pos="2040"/>
      </p:guideLst>
    </p:cSldViewPr>
  </p:slideViewPr>
  <p:outlineViewPr>
    <p:cViewPr>
      <p:scale>
        <a:sx n="33" d="100"/>
        <a:sy n="33" d="100"/>
      </p:scale>
      <p:origin x="0" y="-26528"/>
    </p:cViewPr>
  </p:outlin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59" Type="http://schemas.openxmlformats.org/officeDocument/2006/relationships/notesMaster" Target="notesMasters/notesMaster1.xml"/><Relationship Id="rId160" Type="http://schemas.openxmlformats.org/officeDocument/2006/relationships/commentAuthors" Target="commentAuthors.xml"/><Relationship Id="rId161" Type="http://schemas.openxmlformats.org/officeDocument/2006/relationships/presProps" Target="presProps.xml"/><Relationship Id="rId162" Type="http://schemas.openxmlformats.org/officeDocument/2006/relationships/viewProps" Target="viewProps.xml"/><Relationship Id="rId163" Type="http://schemas.openxmlformats.org/officeDocument/2006/relationships/theme" Target="theme/theme1.xml"/><Relationship Id="rId164" Type="http://schemas.openxmlformats.org/officeDocument/2006/relationships/tableStyles" Target="tableStyles.xml"/><Relationship Id="rId165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B57746-A217-1840-9D27-1C9B611FF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C0457-C9C0-9A46-856C-A75642660D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0E765C1-43CC-5C46-8694-A6B828DEC430}" type="datetimeFigureOut">
              <a:rPr lang="en-US"/>
              <a:pPr>
                <a:defRPr/>
              </a:pPr>
              <a:t>8/5/26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3DE939-5167-8149-9C39-EBF3DB40E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8179A7E-0011-7C47-A00A-3553ADFC2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921AA-9F8D-2644-BA51-99C00524A9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1767E-EE09-594B-90B8-F1B2D1E51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48E93DF-EC4A-7C45-AB6A-FC63BC432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4A4BE7-29FE-EC65-CE2C-3F4AEC50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2026,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0BA3-E490-7BB8-44E4-2563732C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766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38" Type="http://schemas.openxmlformats.org/officeDocument/2006/relationships/theme" Target="../theme/theme1.xml"/><Relationship Id="rId39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37" Type="http://schemas.openxmlformats.org/officeDocument/2006/relationships/theme" Target="../theme/theme2.xml"/><Relationship Id="rId38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649E9B-1B14-03BC-223A-A73E4C2CB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2026,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8CE38-9F29-7D57-6505-1D5D478D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1C473C-44BA-054B-B271-D3751D07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604AFDB-588D-E24E-89EC-AD90383CE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17F9E9-901D-0684-0DC1-5ADB5FF29E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36720" y="6337594"/>
            <a:ext cx="365760" cy="2194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1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649E9B-1B14-03BC-223A-A73E4C2CB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2026,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8CE38-9F29-7D57-6505-1D5D478D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1C473C-44BA-054B-B271-D3751D07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604AFDB-588D-E24E-89EC-AD90383CE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53D0324-E1F1-5606-76F1-580B7E8094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36720" y="6335089"/>
            <a:ext cx="348827" cy="20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47060"/>
      </p:ext>
    </p:extLst>
  </p:cSld>
  <p:clrMap bg1="lt1" tx1="dk1" bg2="lt2" tx2="dk2" accent1="accent1" accent2="accent2" accent3="accent3" accent4="accent4" accent5="accent5" accent6="accent6" hlink="hlink" folHlink="folHlink"/>
  <p:sldLayoutIdLst/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image" Target="../media/image28.svg"/><Relationship Id="rId5" Type="http://schemas.openxmlformats.org/officeDocument/2006/relationships/image" Target="../media/image9.png"/><Relationship Id="rId6" Type="http://schemas.openxmlformats.org/officeDocument/2006/relationships/image" Target="../media/image11.svg"/><Relationship Id="rId7" Type="http://schemas.openxmlformats.org/officeDocument/2006/relationships/image" Target="../media/image10.png"/><Relationship Id="rId8" Type="http://schemas.openxmlformats.org/officeDocument/2006/relationships/image" Target="../media/image81.svg"/><Relationship Id="rId9" Type="http://schemas.openxmlformats.org/officeDocument/2006/relationships/image" Target="../media/image12.png"/><Relationship Id="rId10" Type="http://schemas.openxmlformats.org/officeDocument/2006/relationships/image" Target="../media/image382.svg"/><Relationship Id="rId11" Type="http://schemas.openxmlformats.org/officeDocument/2006/relationships/image" Target="../media/image13.png"/><Relationship Id="rId12" Type="http://schemas.openxmlformats.org/officeDocument/2006/relationships/image" Target="../media/image662.svg"/><Relationship Id="rId13" Type="http://schemas.openxmlformats.org/officeDocument/2006/relationships/image" Target="../media/image14.png"/><Relationship Id="rId14" Type="http://schemas.openxmlformats.org/officeDocument/2006/relationships/image" Target="../media/image23.svg"/><Relationship Id="rId15" Type="http://schemas.openxmlformats.org/officeDocument/2006/relationships/image" Target="../media/image15.png"/><Relationship Id="rId16" Type="http://schemas.openxmlformats.org/officeDocument/2006/relationships/image" Target="../media/image797.svg"/><Relationship Id="rId17" Type="http://schemas.openxmlformats.org/officeDocument/2006/relationships/image" Target="../media/image16.png"/><Relationship Id="rId18" Type="http://schemas.openxmlformats.org/officeDocument/2006/relationships/image" Target="../media/image152.svg"/><Relationship Id="rId19" Type="http://schemas.openxmlformats.org/officeDocument/2006/relationships/image" Target="../media/image17.png"/><Relationship Id="rId20" Type="http://schemas.openxmlformats.org/officeDocument/2006/relationships/image" Target="../media/image713.svg"/><Relationship Id="rId21" Type="http://schemas.openxmlformats.org/officeDocument/2006/relationships/image" Target="../media/image18.png"/><Relationship Id="rId22" Type="http://schemas.openxmlformats.org/officeDocument/2006/relationships/image" Target="../media/image481.svg"/><Relationship Id="rId23" Type="http://schemas.openxmlformats.org/officeDocument/2006/relationships/image" Target="../media/image19.png"/><Relationship Id="rId24" Type="http://schemas.openxmlformats.org/officeDocument/2006/relationships/image" Target="../media/image316.svg"/><Relationship Id="rId25" Type="http://schemas.openxmlformats.org/officeDocument/2006/relationships/image" Target="../media/image20.png"/><Relationship Id="rId26" Type="http://schemas.openxmlformats.org/officeDocument/2006/relationships/image" Target="../media/image212.svg"/><Relationship Id="rId27" Type="http://schemas.openxmlformats.org/officeDocument/2006/relationships/image" Target="../media/image21.png"/><Relationship Id="rId28" Type="http://schemas.openxmlformats.org/officeDocument/2006/relationships/image" Target="../media/image148.svg"/><Relationship Id="rId29" Type="http://schemas.openxmlformats.org/officeDocument/2006/relationships/image" Target="../media/image22.png"/><Relationship Id="rId30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1001" name="Rectangle 54">
            <a:extLst>
              <a:ext uri="{FF2B5EF4-FFF2-40B4-BE49-F238E27FC236}">
                <a16:creationId xmlns:a16="http://schemas.microsoft.com/office/drawing/2014/main" id="{302A5B0E-ABA9-48CD-84D0-B78867AD79EC}"/>
              </a:ext>
            </a:extLst>
          </p:cNvPr>
          <p:cNvSpPr/>
          <p:nvPr/>
        </p:nvSpPr>
        <p:spPr>
          <a:xfrm>
            <a:off x="1481328" y="365760"/>
            <a:ext cx="7708392" cy="614476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002" name="Graphic 55" descr="AWS Cloud group icon with AWS logo.">
            <a:extLst>
              <a:ext uri="{FF2B5EF4-FFF2-40B4-BE49-F238E27FC236}">
                <a16:creationId xmlns:a16="http://schemas.microsoft.com/office/drawing/2014/main" id="{8AB2D835-9413-49FA-ACE8-763B2FFE2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481328" y="365760"/>
            <a:ext cx="384048" cy="384048"/>
          </a:xfrm>
          <a:prstGeom prst="rect">
            <a:avLst/>
          </a:prstGeom>
        </p:spPr>
      </p:pic>
      <p:sp>
        <p:nvSpPr>
          <p:cNvPr id="1003" name="Rectangle 60" descr="Region group">
            <a:extLst>
              <a:ext uri="{FF2B5EF4-FFF2-40B4-BE49-F238E27FC236}">
                <a16:creationId xmlns:a16="http://schemas.microsoft.com/office/drawing/2014/main" id="{5DD3887C-00A0-42E0-8F27-B1948269F05B}"/>
              </a:ext>
            </a:extLst>
          </p:cNvPr>
          <p:cNvSpPr/>
          <p:nvPr/>
        </p:nvSpPr>
        <p:spPr>
          <a:xfrm>
            <a:off x="1645920" y="795528"/>
            <a:ext cx="7406640" cy="557784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Region: us-east-1</a:t>
            </a:r>
          </a:p>
        </p:txBody>
      </p:sp>
      <p:pic>
        <p:nvPicPr>
          <p:cNvPr id="1004" name="Graphic 61" descr="Region group icon.">
            <a:extLst>
              <a:ext uri="{FF2B5EF4-FFF2-40B4-BE49-F238E27FC236}">
                <a16:creationId xmlns:a16="http://schemas.microsoft.com/office/drawing/2014/main" id="{8FDA4CC8-83EE-49C8-BDE5-8EA871C8AD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45920" y="795528"/>
            <a:ext cx="384048" cy="384048"/>
          </a:xfrm>
          <a:prstGeom prst="rect">
            <a:avLst/>
          </a:prstGeom>
        </p:spPr>
      </p:pic>
      <p:sp>
        <p:nvSpPr>
          <p:cNvPr id="1005" name="Rectangle 1004"/>
          <p:cNvSpPr/>
          <p:nvPr/>
        </p:nvSpPr>
        <p:spPr>
          <a:xfrm>
            <a:off x="4453127" y="3364992"/>
            <a:ext cx="1792224" cy="1700784"/>
          </a:xfrm>
          <a:prstGeom prst="rect">
            <a:avLst/>
          </a:prstGeom>
          <a:noFill/>
          <a:ln w="12700">
            <a:solidFill>
              <a:srgbClr val="7D899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TextBox 1005"/>
          <p:cNvSpPr txBox="1"/>
          <p:nvPr/>
        </p:nvSpPr>
        <p:spPr>
          <a:xfrm>
            <a:off x="4526279" y="34107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8998"/>
                </a:solidFill>
                <a:latin typeface="Arial"/>
              </a:rPr>
              <a:t>Agents SDK</a:t>
            </a:r>
          </a:p>
        </p:txBody>
      </p:sp>
      <p:pic>
        <p:nvPicPr>
          <p:cNvPr id="1005" name="Graphic 23" descr="Users resource icon for the General Icons category.">
            <a:extLst>
              <a:ext uri="{FF2B5EF4-FFF2-40B4-BE49-F238E27FC236}">
                <a16:creationId xmlns:a16="http://schemas.microsoft.com/office/drawing/2014/main" id="{E85E2EAD-D4A1-4BCE-B3D6-524E21E46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 flipH="1">
            <a:off x="457200" y="141732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7" name="TextBox 1006"/>
          <p:cNvSpPr txBox="1"/>
          <p:nvPr/>
        </p:nvSpPr>
        <p:spPr>
          <a:xfrm>
            <a:off x="-45719" y="201167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Claims processors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(browser)</a:t>
            </a:r>
          </a:p>
        </p:txBody>
      </p:sp>
      <p:pic>
        <p:nvPicPr>
          <p:cNvPr id="1006" name="Graphic 16" descr="Documents resource icon for the General Icons category.">
            <a:extLst>
              <a:ext uri="{FF2B5EF4-FFF2-40B4-BE49-F238E27FC236}">
                <a16:creationId xmlns:a16="http://schemas.microsoft.com/office/drawing/2014/main" id="{1D4AE2EA-BE2D-4CC2-B448-632FF8496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457200" y="374904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8" name="TextBox 1007"/>
          <p:cNvSpPr txBox="1"/>
          <p:nvPr/>
        </p:nvSpPr>
        <p:spPr>
          <a:xfrm>
            <a:off x="-45719" y="4343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Scanning vendor /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clearinghouse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(batch drop)</a:t>
            </a:r>
          </a:p>
        </p:txBody>
      </p:sp>
      <p:pic>
        <p:nvPicPr>
          <p:cNvPr id="1007" name="Graphic 10" descr="AWS Amplify service icon.">
            <a:extLst>
              <a:ext uri="{FF2B5EF4-FFF2-40B4-BE49-F238E27FC236}">
                <a16:creationId xmlns:a16="http://schemas.microsoft.com/office/drawing/2014/main" id="{52CAE08A-EA3D-4F73-AFB4-00AF0A35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2148840" y="141732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9" name="TextBox 1008"/>
          <p:cNvSpPr txBox="1"/>
          <p:nvPr/>
        </p:nvSpPr>
        <p:spPr>
          <a:xfrm>
            <a:off x="1645919" y="201167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AWS Amplify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React UI</a:t>
            </a:r>
          </a:p>
        </p:txBody>
      </p:sp>
      <p:pic>
        <p:nvPicPr>
          <p:cNvPr id="1008" name="Graphic 7" descr="Amazon API Gateway service icon.">
            <a:extLst>
              <a:ext uri="{FF2B5EF4-FFF2-40B4-BE49-F238E27FC236}">
                <a16:creationId xmlns:a16="http://schemas.microsoft.com/office/drawing/2014/main" id="{588149E2-5F51-3833-BD69-10CCAA262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3611880" y="141732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0" name="TextBox 1009"/>
          <p:cNvSpPr txBox="1"/>
          <p:nvPr/>
        </p:nvSpPr>
        <p:spPr>
          <a:xfrm>
            <a:off x="3108960" y="201167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Amazon API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Gateway</a:t>
            </a:r>
          </a:p>
        </p:txBody>
      </p:sp>
      <p:pic>
        <p:nvPicPr>
          <p:cNvPr id="1009" name="Graphic 10" descr="AWS Lambda service icon.">
            <a:extLst>
              <a:ext uri="{FF2B5EF4-FFF2-40B4-BE49-F238E27FC236}">
                <a16:creationId xmlns:a16="http://schemas.microsoft.com/office/drawing/2014/main" id="{7249C1EC-5A69-3C4D-9DDF-0DB93BB70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5074920" y="141732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1" name="TextBox 1010"/>
          <p:cNvSpPr txBox="1"/>
          <p:nvPr/>
        </p:nvSpPr>
        <p:spPr>
          <a:xfrm>
            <a:off x="4572000" y="201167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AWS Lambda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API function</a:t>
            </a:r>
          </a:p>
        </p:txBody>
      </p:sp>
      <p:pic>
        <p:nvPicPr>
          <p:cNvPr id="1010" name="Graphic 8" descr="Amazon Simple Storage Service (Amazon S3) service icon.">
            <a:extLst>
              <a:ext uri="{FF2B5EF4-FFF2-40B4-BE49-F238E27FC236}">
                <a16:creationId xmlns:a16="http://schemas.microsoft.com/office/drawing/2014/main" id="{2D094D16-559A-2826-702D-11E0201C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2148840" y="374904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2" name="TextBox 1011"/>
          <p:cNvSpPr txBox="1"/>
          <p:nvPr/>
        </p:nvSpPr>
        <p:spPr>
          <a:xfrm>
            <a:off x="1645919" y="4343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Amazon S3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inbox/  batches/</a:t>
            </a:r>
          </a:p>
        </p:txBody>
      </p:sp>
      <p:pic>
        <p:nvPicPr>
          <p:cNvPr id="1011" name="Graphic 26" descr="Amazon Simple Queue Service (Amazon SQS) service icon.">
            <a:extLst>
              <a:ext uri="{FF2B5EF4-FFF2-40B4-BE49-F238E27FC236}">
                <a16:creationId xmlns:a16="http://schemas.microsoft.com/office/drawing/2014/main" id="{E06E405B-8BE4-432D-9B3D-3E2E874D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3611880" y="374904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" name="TextBox 1012"/>
          <p:cNvSpPr txBox="1"/>
          <p:nvPr/>
        </p:nvSpPr>
        <p:spPr>
          <a:xfrm>
            <a:off x="3108960" y="4343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Amazon SQS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intake queue</a:t>
            </a:r>
          </a:p>
        </p:txBody>
      </p:sp>
      <p:pic>
        <p:nvPicPr>
          <p:cNvPr id="1012" name="Graphic 10" descr="AWS Lambda service icon.">
            <a:extLst>
              <a:ext uri="{FF2B5EF4-FFF2-40B4-BE49-F238E27FC236}">
                <a16:creationId xmlns:a16="http://schemas.microsoft.com/office/drawing/2014/main" id="{7249C1EC-5A69-3C4D-9DDF-0DB93BB70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5074920" y="374904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4" name="TextBox 1013"/>
          <p:cNvSpPr txBox="1"/>
          <p:nvPr/>
        </p:nvSpPr>
        <p:spPr>
          <a:xfrm>
            <a:off x="4572000" y="4343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AWS Lambda supervisor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Extraction Agent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Resolution Agent</a:t>
            </a:r>
          </a:p>
        </p:txBody>
      </p:sp>
      <p:pic>
        <p:nvPicPr>
          <p:cNvPr id="1013" name="Graphic 26" descr="Amazon Simple Queue Service (Amazon SQS) service icon.">
            <a:extLst>
              <a:ext uri="{FF2B5EF4-FFF2-40B4-BE49-F238E27FC236}">
                <a16:creationId xmlns:a16="http://schemas.microsoft.com/office/drawing/2014/main" id="{E06E405B-8BE4-432D-9B3D-3E2E874D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3611880" y="5376672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5" name="TextBox 1014"/>
          <p:cNvSpPr txBox="1"/>
          <p:nvPr/>
        </p:nvSpPr>
        <p:spPr>
          <a:xfrm>
            <a:off x="3108960" y="5971031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Amazon SQS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dead-letter queue</a:t>
            </a:r>
          </a:p>
        </p:txBody>
      </p:sp>
      <p:pic>
        <p:nvPicPr>
          <p:cNvPr id="1014" name="Graphic 17" descr="AWS Secrets Manager service icon.">
            <a:extLst>
              <a:ext uri="{FF2B5EF4-FFF2-40B4-BE49-F238E27FC236}">
                <a16:creationId xmlns:a16="http://schemas.microsoft.com/office/drawing/2014/main" id="{A12EE907-E763-44C1-A13C-D9B87F6A1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5074920" y="5376672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6" name="TextBox 1015"/>
          <p:cNvSpPr txBox="1"/>
          <p:nvPr/>
        </p:nvSpPr>
        <p:spPr>
          <a:xfrm>
            <a:off x="4572000" y="5971031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AWS Secrets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Manager</a:t>
            </a:r>
          </a:p>
        </p:txBody>
      </p:sp>
      <p:pic>
        <p:nvPicPr>
          <p:cNvPr id="1015" name="Graphic 17" descr="Amazon CloudWatch service icon.">
            <a:extLst>
              <a:ext uri="{FF2B5EF4-FFF2-40B4-BE49-F238E27FC236}">
                <a16:creationId xmlns:a16="http://schemas.microsoft.com/office/drawing/2014/main" id="{F0F27D85-8B1B-4E60-9EC1-12AB8A2FB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2148840" y="5376672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7" name="TextBox 1016"/>
          <p:cNvSpPr txBox="1"/>
          <p:nvPr/>
        </p:nvSpPr>
        <p:spPr>
          <a:xfrm>
            <a:off x="1645919" y="5971031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Amazon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CloudWatch Logs</a:t>
            </a:r>
          </a:p>
        </p:txBody>
      </p:sp>
      <p:pic>
        <p:nvPicPr>
          <p:cNvPr id="1016" name="Graphic 23" descr="Amazon DynamoDB service icon.">
            <a:extLst>
              <a:ext uri="{FF2B5EF4-FFF2-40B4-BE49-F238E27FC236}">
                <a16:creationId xmlns:a16="http://schemas.microsoft.com/office/drawing/2014/main" id="{780C44B0-24CB-0E46-8E63-78BE71121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6629400" y="141732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8" name="TextBox 1017"/>
          <p:cNvSpPr txBox="1"/>
          <p:nvPr/>
        </p:nvSpPr>
        <p:spPr>
          <a:xfrm>
            <a:off x="7269479" y="1417320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32F3E"/>
                </a:solidFill>
                <a:latin typeface="Arial"/>
              </a:rPr>
              <a:t>Amazon DynamoDB</a:t>
            </a:r>
          </a:p>
          <a:p>
            <a:pPr algn="l"/>
            <a:r>
              <a:rPr sz="1200" b="0">
                <a:solidFill>
                  <a:srgbClr val="232F3E"/>
                </a:solidFill>
                <a:latin typeface="Arial"/>
              </a:rPr>
              <a:t>intake + batch records,</a:t>
            </a:r>
          </a:p>
          <a:p>
            <a:pPr algn="l"/>
            <a:r>
              <a:rPr sz="1200" b="0">
                <a:solidFill>
                  <a:srgbClr val="232F3E"/>
                </a:solidFill>
                <a:latin typeface="Arial"/>
              </a:rPr>
              <a:t>audit trail</a:t>
            </a:r>
          </a:p>
        </p:txBody>
      </p:sp>
      <p:pic>
        <p:nvPicPr>
          <p:cNvPr id="1017" name="Graphic 32" descr="AWS HealthLake service icon.">
            <a:extLst>
              <a:ext uri="{FF2B5EF4-FFF2-40B4-BE49-F238E27FC236}">
                <a16:creationId xmlns:a16="http://schemas.microsoft.com/office/drawing/2014/main" id="{D1305F08-4CC8-443E-A948-00FF351AEDF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6629400" y="2651760"/>
            <a:ext cx="548640" cy="548640"/>
          </a:xfrm>
          <a:prstGeom prst="rect">
            <a:avLst/>
          </a:prstGeom>
        </p:spPr>
      </p:pic>
      <p:sp>
        <p:nvSpPr>
          <p:cNvPr id="1019" name="TextBox 1018"/>
          <p:cNvSpPr txBox="1"/>
          <p:nvPr/>
        </p:nvSpPr>
        <p:spPr>
          <a:xfrm>
            <a:off x="7269479" y="2651760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32F3E"/>
                </a:solidFill>
                <a:latin typeface="Arial"/>
              </a:rPr>
              <a:t>AWS HealthLake</a:t>
            </a:r>
          </a:p>
          <a:p>
            <a:pPr algn="l"/>
            <a:r>
              <a:rPr sz="1200" b="0">
                <a:solidFill>
                  <a:srgbClr val="232F3E"/>
                </a:solidFill>
                <a:latin typeface="Arial"/>
              </a:rPr>
              <a:t>FHIR R4: Patient,</a:t>
            </a:r>
          </a:p>
          <a:p>
            <a:pPr algn="l"/>
            <a:r>
              <a:rPr sz="1200" b="0">
                <a:solidFill>
                  <a:srgbClr val="232F3E"/>
                </a:solidFill>
                <a:latin typeface="Arial"/>
              </a:rPr>
              <a:t>Coverage, Claim</a:t>
            </a:r>
          </a:p>
        </p:txBody>
      </p:sp>
      <p:pic>
        <p:nvPicPr>
          <p:cNvPr id="1018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91CAAAFF-327D-4976-A2B6-301EAAD9B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6629400" y="5285232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0" name="TextBox 1019"/>
          <p:cNvSpPr txBox="1"/>
          <p:nvPr/>
        </p:nvSpPr>
        <p:spPr>
          <a:xfrm>
            <a:off x="6126480" y="5879592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Amazon SNS</a:t>
            </a:r>
          </a:p>
        </p:txBody>
      </p:sp>
      <p:pic>
        <p:nvPicPr>
          <p:cNvPr id="1019" name="Graphic 50" descr="Email resource icon for the General Icons category.">
            <a:extLst>
              <a:ext uri="{FF2B5EF4-FFF2-40B4-BE49-F238E27FC236}">
                <a16:creationId xmlns:a16="http://schemas.microsoft.com/office/drawing/2014/main" id="{459533EC-A33A-4EDA-A21D-0110B0438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5285232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1" name="TextBox 1020"/>
          <p:cNvSpPr txBox="1"/>
          <p:nvPr/>
        </p:nvSpPr>
        <p:spPr>
          <a:xfrm>
            <a:off x="10012680" y="5879592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Processor &amp; provider</a:t>
            </a:r>
          </a:p>
          <a:p>
            <a:pPr algn="ctr"/>
            <a:r>
              <a:rPr sz="1200" b="0">
                <a:solidFill>
                  <a:srgbClr val="232F3E"/>
                </a:solidFill>
                <a:latin typeface="Arial"/>
              </a:rPr>
              <a:t>email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9601200" y="361188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3" name="TextBox 1022"/>
          <p:cNvSpPr txBox="1"/>
          <p:nvPr/>
        </p:nvSpPr>
        <p:spPr>
          <a:xfrm>
            <a:off x="9692640" y="37216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OpenAI Platform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9692640" y="4050791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Responses API · Agents SDK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gpt-6-luna → gpt-6.1-sol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Traces · Evals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024128" y="1691640"/>
            <a:ext cx="1106424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>
            <a:off x="2715768" y="1691640"/>
            <a:ext cx="877824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>
            <a:off x="4178808" y="1691640"/>
            <a:ext cx="877823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>
            <a:off x="5641848" y="1691640"/>
            <a:ext cx="969264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>
            <a:off x="960120" y="2606040"/>
            <a:ext cx="1216152" cy="117043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>
            <a:off x="1024128" y="4023360"/>
            <a:ext cx="1106424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2715768" y="4023360"/>
            <a:ext cx="877824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4178808" y="4023360"/>
            <a:ext cx="877823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3886200" y="4800600"/>
            <a:ext cx="0" cy="557783"/>
          </a:xfrm>
          <a:prstGeom prst="line">
            <a:avLst/>
          </a:prstGeom>
          <a:ln w="15875">
            <a:solidFill>
              <a:srgbClr val="232F3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 flipV="1">
            <a:off x="5349240" y="5029200"/>
            <a:ext cx="0" cy="329183"/>
          </a:xfrm>
          <a:prstGeom prst="line">
            <a:avLst/>
          </a:prstGeom>
          <a:ln w="15875">
            <a:solidFill>
              <a:srgbClr val="232F3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V="1">
            <a:off x="5641848" y="3017520"/>
            <a:ext cx="969264" cy="89611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5605272" y="1965960"/>
            <a:ext cx="1024128" cy="178308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>
            <a:off x="5641848" y="4206240"/>
            <a:ext cx="713232" cy="0"/>
          </a:xfrm>
          <a:prstGeom prst="line">
            <a:avLst/>
          </a:prstGeom>
          <a:ln w="15875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>
            <a:off x="6355080" y="4206240"/>
            <a:ext cx="0" cy="1353312"/>
          </a:xfrm>
          <a:prstGeom prst="line">
            <a:avLst/>
          </a:prstGeom>
          <a:ln w="15875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>
            <a:off x="6355080" y="5559552"/>
            <a:ext cx="256032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>
            <a:off x="5641848" y="4023360"/>
            <a:ext cx="3959352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>
            <a:off x="7196328" y="5559552"/>
            <a:ext cx="3300984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Oval 1041"/>
          <p:cNvSpPr/>
          <p:nvPr/>
        </p:nvSpPr>
        <p:spPr>
          <a:xfrm>
            <a:off x="1138428" y="3653028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3" name="Oval 1042"/>
          <p:cNvSpPr/>
          <p:nvPr/>
        </p:nvSpPr>
        <p:spPr>
          <a:xfrm>
            <a:off x="2939796" y="3653028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4" name="Oval 1043"/>
          <p:cNvSpPr/>
          <p:nvPr/>
        </p:nvSpPr>
        <p:spPr>
          <a:xfrm>
            <a:off x="9249156" y="3653028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5" name="Oval 1044"/>
          <p:cNvSpPr/>
          <p:nvPr/>
        </p:nvSpPr>
        <p:spPr>
          <a:xfrm>
            <a:off x="5911596" y="2985515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6" name="Oval 1045"/>
          <p:cNvSpPr/>
          <p:nvPr/>
        </p:nvSpPr>
        <p:spPr>
          <a:xfrm>
            <a:off x="5929884" y="2162556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47" name="Oval 1046"/>
          <p:cNvSpPr/>
          <p:nvPr/>
        </p:nvSpPr>
        <p:spPr>
          <a:xfrm>
            <a:off x="9249156" y="51892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48" name="Oval 1047"/>
          <p:cNvSpPr/>
          <p:nvPr/>
        </p:nvSpPr>
        <p:spPr>
          <a:xfrm>
            <a:off x="2939796" y="1321308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049" name="Oval 1048"/>
          <p:cNvSpPr/>
          <p:nvPr/>
        </p:nvSpPr>
        <p:spPr>
          <a:xfrm>
            <a:off x="9285732" y="3886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9628632" y="3840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Arial"/>
              </a:rPr>
              <a:t>Claims arrive: one at a time (presigned upload from the UI) or as a batch dropped into batches/&lt;id&gt;/.</a:t>
            </a:r>
          </a:p>
        </p:txBody>
      </p:sp>
      <p:sp>
        <p:nvSpPr>
          <p:cNvPr id="1051" name="Oval 1050"/>
          <p:cNvSpPr/>
          <p:nvPr/>
        </p:nvSpPr>
        <p:spPr>
          <a:xfrm>
            <a:off x="9285732" y="8458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9628632" y="841247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Arial"/>
              </a:rPr>
              <a:t>Each S3 event becomes an SQS message; the queue absorbs the batch, retries, then uses the DLQ.</a:t>
            </a:r>
          </a:p>
        </p:txBody>
      </p:sp>
      <p:sp>
        <p:nvSpPr>
          <p:cNvPr id="1053" name="Oval 1052"/>
          <p:cNvSpPr/>
          <p:nvPr/>
        </p:nvSpPr>
        <p:spPr>
          <a:xfrm>
            <a:off x="9285732" y="13030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9628632" y="12984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Arial"/>
              </a:rPr>
              <a:t>Extraction Agent (in the supervisor Lambda) reads the claim via the OpenAI API: luna first, sol if risky.</a:t>
            </a:r>
          </a:p>
        </p:txBody>
      </p:sp>
      <p:sp>
        <p:nvSpPr>
          <p:cNvPr id="1055" name="Oval 1054"/>
          <p:cNvSpPr/>
          <p:nvPr/>
        </p:nvSpPr>
        <p:spPr>
          <a:xfrm>
            <a:off x="9285732" y="17602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9628632" y="17556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Arial"/>
              </a:rPr>
              <a:t>Rules in code; the Resolution Agent does typed FHIR lookups and creates the Claim in HealthLake.</a:t>
            </a:r>
          </a:p>
        </p:txBody>
      </p:sp>
      <p:sp>
        <p:nvSpPr>
          <p:cNvPr id="1057" name="Oval 1056"/>
          <p:cNvSpPr/>
          <p:nvPr/>
        </p:nvSpPr>
        <p:spPr>
          <a:xfrm>
            <a:off x="9285732" y="22174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9628632" y="22128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Arial"/>
              </a:rPr>
              <a:t>Code decides the route; status, audit trail and atomic batch counters land in DynamoDB.</a:t>
            </a:r>
          </a:p>
        </p:txBody>
      </p:sp>
      <p:sp>
        <p:nvSpPr>
          <p:cNvPr id="1059" name="Oval 1058"/>
          <p:cNvSpPr/>
          <p:nvPr/>
        </p:nvSpPr>
        <p:spPr>
          <a:xfrm>
            <a:off x="9285732" y="26746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9628632" y="26700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Arial"/>
              </a:rPr>
              <a:t>SNS sends processor / provider messages and one summary per completed batch.</a:t>
            </a:r>
          </a:p>
        </p:txBody>
      </p:sp>
      <p:sp>
        <p:nvSpPr>
          <p:cNvPr id="1061" name="Oval 1060"/>
          <p:cNvSpPr/>
          <p:nvPr/>
        </p:nvSpPr>
        <p:spPr>
          <a:xfrm>
            <a:off x="9285732" y="3131820"/>
            <a:ext cx="246888" cy="24688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9628632" y="31272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Arial"/>
              </a:rPr>
              <a:t>Processors review only the exceptions in the UI (Amplify → API Gateway → Lambda).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274320" y="6547104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5B64"/>
                </a:solidFill>
                <a:latin typeface="Arial"/>
              </a:rPr>
              <a:t>ClaimPilot: claims intake automation. Every model call goes to the OpenAI Platform; the customer's AWS account hosts the app and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-Background-Master">
  <a:themeElements>
    <a:clrScheme name="Architecture Icons Light Background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ED7100"/>
      </a:accent1>
      <a:accent2>
        <a:srgbClr val="037F0C"/>
      </a:accent2>
      <a:accent3>
        <a:srgbClr val="D91515"/>
      </a:accent3>
      <a:accent4>
        <a:srgbClr val="F2F3F3"/>
      </a:accent4>
      <a:accent5>
        <a:srgbClr val="D5DBDB"/>
      </a:accent5>
      <a:accent6>
        <a:srgbClr val="0971D3"/>
      </a:accent6>
      <a:hlink>
        <a:srgbClr val="0971D3"/>
      </a:hlink>
      <a:folHlink>
        <a:srgbClr val="0971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rk-Background-Master">
  <a:themeElements>
    <a:clrScheme name="Architecture Icons Dark Background">
      <a:dk1>
        <a:srgbClr val="000000"/>
      </a:dk1>
      <a:lt1>
        <a:srgbClr val="FFFFFF"/>
      </a:lt1>
      <a:dk2>
        <a:srgbClr val="232F3E"/>
      </a:dk2>
      <a:lt2>
        <a:srgbClr val="E7E6E6"/>
      </a:lt2>
      <a:accent1>
        <a:srgbClr val="FF9900"/>
      </a:accent1>
      <a:accent2>
        <a:srgbClr val="28AD32"/>
      </a:accent2>
      <a:accent3>
        <a:srgbClr val="EB6F6F"/>
      </a:accent3>
      <a:accent4>
        <a:srgbClr val="A5A5A5"/>
      </a:accent4>
      <a:accent5>
        <a:srgbClr val="D1D5DB"/>
      </a:accent5>
      <a:accent6>
        <a:srgbClr val="539FE5"/>
      </a:accent6>
      <a:hlink>
        <a:srgbClr val="539FE5"/>
      </a:hlink>
      <a:folHlink>
        <a:srgbClr val="539F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187125</TotalTime>
  <Words>7383</Words>
  <Application>Microsoft Macintosh PowerPoint</Application>
  <PresentationFormat>Widescreen</PresentationFormat>
  <Paragraphs>1627</Paragraphs>
  <Slides>156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156</vt:i4>
      </vt:variant>
    </vt:vector>
  </HeadingPairs>
  <TitlesOfParts>
    <vt:vector size="162" baseType="lpstr">
      <vt:lpstr>Arial</vt:lpstr>
      <vt:lpstr>Calibri</vt:lpstr>
      <vt:lpstr>Calibri Light</vt:lpstr>
      <vt:lpstr>Helvetica Neue</vt:lpstr>
      <vt:lpstr>Light-Background-Master</vt:lpstr>
      <vt:lpstr>Dark-Background-Master</vt:lpstr>
      <vt:lpstr>AWS Architecture Icons</vt:lpstr>
      <vt:lpstr>Release 24-2026.07.31: What’s New? 1/1</vt:lpstr>
      <vt:lpstr>Contents</vt:lpstr>
      <vt:lpstr>Introduction</vt:lpstr>
      <vt:lpstr>About AWS Architecture Icons</vt:lpstr>
      <vt:lpstr>Before You Begin:</vt:lpstr>
      <vt:lpstr>System</vt:lpstr>
      <vt:lpstr>System Elements 1/2</vt:lpstr>
      <vt:lpstr>System Elements 2/2</vt:lpstr>
      <vt:lpstr>Guidelines</vt:lpstr>
      <vt:lpstr>Building a Diagram</vt:lpstr>
      <vt:lpstr>Guidance for Portrait View Use Case</vt:lpstr>
      <vt:lpstr>Guidance for Training and Certification Use Case</vt:lpstr>
      <vt:lpstr>Groups</vt:lpstr>
      <vt:lpstr>Icons</vt:lpstr>
      <vt:lpstr>Arrows</vt:lpstr>
      <vt:lpstr>Icon Labels</vt:lpstr>
      <vt:lpstr>Numbered Callouts</vt:lpstr>
      <vt:lpstr>Examples</vt:lpstr>
      <vt:lpstr>Example: Git to S3 Webhooks</vt:lpstr>
      <vt:lpstr>Example: Chef Automate Architecture on AWS</vt:lpstr>
      <vt:lpstr>Elements</vt:lpstr>
      <vt:lpstr>Icon Categories</vt:lpstr>
      <vt:lpstr>General Resources</vt:lpstr>
      <vt:lpstr>Groups 1/5</vt:lpstr>
      <vt:lpstr>Create a Custom Group for a Service 2/5</vt:lpstr>
      <vt:lpstr>Arrows 3/5</vt:lpstr>
      <vt:lpstr>General Icons 4/5</vt:lpstr>
      <vt:lpstr>General Icons 5/5</vt:lpstr>
      <vt:lpstr>Analytics</vt:lpstr>
      <vt:lpstr>Analytics 1/6</vt:lpstr>
      <vt:lpstr>Analytics 2/6</vt:lpstr>
      <vt:lpstr>Analytics 3/6</vt:lpstr>
      <vt:lpstr>Analytics 4/6</vt:lpstr>
      <vt:lpstr>Analytics 5/6</vt:lpstr>
      <vt:lpstr>Analytics 6/6</vt:lpstr>
      <vt:lpstr>Application Integration</vt:lpstr>
      <vt:lpstr>Application Integration 1/3</vt:lpstr>
      <vt:lpstr>Application Integration 2/3</vt:lpstr>
      <vt:lpstr>Application Integration 3/3</vt:lpstr>
      <vt:lpstr>Artificial Intelligence</vt:lpstr>
      <vt:lpstr>Artificial Intelligence 1/10</vt:lpstr>
      <vt:lpstr>Artificial Intelligence 2/10</vt:lpstr>
      <vt:lpstr>Artificial Intelligence 3/10</vt:lpstr>
      <vt:lpstr>Artificial Intelligence 4/10</vt:lpstr>
      <vt:lpstr>Artificial Intelligence 5/10</vt:lpstr>
      <vt:lpstr>Artificial Intelligence 6/10</vt:lpstr>
      <vt:lpstr>Artificial Intelligence 7/10</vt:lpstr>
      <vt:lpstr>Artificial Intelligence 8/10</vt:lpstr>
      <vt:lpstr>Artificial Intelligence 9/10</vt:lpstr>
      <vt:lpstr>Artificial Intelligence 10/10</vt:lpstr>
      <vt:lpstr>Blockchain</vt:lpstr>
      <vt:lpstr>Blockchain 1/1</vt:lpstr>
      <vt:lpstr>Business Applications</vt:lpstr>
      <vt:lpstr>Business Applications 1/4</vt:lpstr>
      <vt:lpstr>Business Applications 2/4</vt:lpstr>
      <vt:lpstr>Business Applications 3/4</vt:lpstr>
      <vt:lpstr>Business Applications 4/4</vt:lpstr>
      <vt:lpstr>Cloud Financial Management</vt:lpstr>
      <vt:lpstr>Cloud Financial Management 1/2</vt:lpstr>
      <vt:lpstr>Cloud Financial Management 2/2</vt:lpstr>
      <vt:lpstr>Compute</vt:lpstr>
      <vt:lpstr>Compute 1/7</vt:lpstr>
      <vt:lpstr>Compute 2/7</vt:lpstr>
      <vt:lpstr>Compute 3/7</vt:lpstr>
      <vt:lpstr>Compute 4/7</vt:lpstr>
      <vt:lpstr>Compute 5/7</vt:lpstr>
      <vt:lpstr>Compute 6/7</vt:lpstr>
      <vt:lpstr>Compute 7/7</vt:lpstr>
      <vt:lpstr>Containers</vt:lpstr>
      <vt:lpstr>Containers 1/2</vt:lpstr>
      <vt:lpstr>Containers 2/2</vt:lpstr>
      <vt:lpstr>Customer  Enablement</vt:lpstr>
      <vt:lpstr>Customer Enablement  1/2</vt:lpstr>
      <vt:lpstr>Customer Enablement 2/2</vt:lpstr>
      <vt:lpstr>Customer Experience</vt:lpstr>
      <vt:lpstr>Customer Experience</vt:lpstr>
      <vt:lpstr>Databases</vt:lpstr>
      <vt:lpstr>Databases 1/5</vt:lpstr>
      <vt:lpstr>Databases 2/5</vt:lpstr>
      <vt:lpstr>Databases 3/5</vt:lpstr>
      <vt:lpstr>Databases 4/5</vt:lpstr>
      <vt:lpstr>Databases 5/5</vt:lpstr>
      <vt:lpstr>Developer Tools</vt:lpstr>
      <vt:lpstr>Developer Tools 1/5</vt:lpstr>
      <vt:lpstr>Developer Tools 2/5</vt:lpstr>
      <vt:lpstr>Developer Tools  3/5</vt:lpstr>
      <vt:lpstr>Developer Tools 4/5</vt:lpstr>
      <vt:lpstr>Developer Tools 5/5</vt:lpstr>
      <vt:lpstr>End User Computing</vt:lpstr>
      <vt:lpstr>End User Computing 1/1</vt:lpstr>
      <vt:lpstr>Front-End Web  &amp; Mobile</vt:lpstr>
      <vt:lpstr>Front-End Web &amp; Mobile  1/1</vt:lpstr>
      <vt:lpstr>Games</vt:lpstr>
      <vt:lpstr>Games 1/1</vt:lpstr>
      <vt:lpstr>Internet of Things</vt:lpstr>
      <vt:lpstr>Internet of Things  1/5</vt:lpstr>
      <vt:lpstr>Internet of Things  2/5</vt:lpstr>
      <vt:lpstr>Internet of Things  3/5</vt:lpstr>
      <vt:lpstr>Internet of Things  4/5</vt:lpstr>
      <vt:lpstr>Internet of Things  5/5</vt:lpstr>
      <vt:lpstr>Management Tools</vt:lpstr>
      <vt:lpstr>Management Tools 1/10</vt:lpstr>
      <vt:lpstr>Management Tools  2/10</vt:lpstr>
      <vt:lpstr>Management Tools 3/10</vt:lpstr>
      <vt:lpstr>Management Tools 4/10</vt:lpstr>
      <vt:lpstr>Management Tools 5/10</vt:lpstr>
      <vt:lpstr>Management Tools 6/10</vt:lpstr>
      <vt:lpstr>Management Tools 7/10</vt:lpstr>
      <vt:lpstr>Management Tools 8/10</vt:lpstr>
      <vt:lpstr>Management Tools 9/10</vt:lpstr>
      <vt:lpstr>Management Tools 10/10</vt:lpstr>
      <vt:lpstr>Media Services</vt:lpstr>
      <vt:lpstr>Media Services 1/6</vt:lpstr>
      <vt:lpstr>Media Services 2/6</vt:lpstr>
      <vt:lpstr>Media Services  3/6</vt:lpstr>
      <vt:lpstr>Media Services 4/6</vt:lpstr>
      <vt:lpstr>Media Services 5/6</vt:lpstr>
      <vt:lpstr>Media Services 6/6</vt:lpstr>
      <vt:lpstr>Migration &amp; Modernization</vt:lpstr>
      <vt:lpstr>Migration &amp; Modernization 1/3</vt:lpstr>
      <vt:lpstr>Migration &amp; Modernization  2/3</vt:lpstr>
      <vt:lpstr>Migration &amp; Modernization 3/3</vt:lpstr>
      <vt:lpstr>Multicloud &amp; Hybrid</vt:lpstr>
      <vt:lpstr>Multicloud &amp; Hybrid 1/1</vt:lpstr>
      <vt:lpstr>Networking &amp; Content Delivery</vt:lpstr>
      <vt:lpstr>Networking &amp; Content Delivery 1/6</vt:lpstr>
      <vt:lpstr>Networking &amp; Content Delivery  2/6</vt:lpstr>
      <vt:lpstr>Networking &amp; Content Delivery  3/6</vt:lpstr>
      <vt:lpstr>Networking &amp; Content Delivery 4/6</vt:lpstr>
      <vt:lpstr>Networking &amp; Content Delivery 5/6</vt:lpstr>
      <vt:lpstr>Networking &amp; Content Delivery 6/6</vt:lpstr>
      <vt:lpstr>Quantum  Technologies</vt:lpstr>
      <vt:lpstr>Quantum Technologies 1/1</vt:lpstr>
      <vt:lpstr>Satellite</vt:lpstr>
      <vt:lpstr>Satellite 1/1</vt:lpstr>
      <vt:lpstr>Security, Identity, &amp; Compliance</vt:lpstr>
      <vt:lpstr>Security, Identity, &amp; Compliance 1/8</vt:lpstr>
      <vt:lpstr>Security, Identity, &amp; Compliance 2/8</vt:lpstr>
      <vt:lpstr>Security, Identity, &amp; Compliance 3/8</vt:lpstr>
      <vt:lpstr>Security, Identity, &amp; Compliance 4/8</vt:lpstr>
      <vt:lpstr>Security, Identity, &amp; Compliance 5/8</vt:lpstr>
      <vt:lpstr>Security, Identity, &amp; Compliance 6/8</vt:lpstr>
      <vt:lpstr>Security, Identity, &amp; Compliance 7/8</vt:lpstr>
      <vt:lpstr>Security, Identity, &amp; Compliance 8/8</vt:lpstr>
      <vt:lpstr>Serverless</vt:lpstr>
      <vt:lpstr>Serverless 1/1</vt:lpstr>
      <vt:lpstr>Storage</vt:lpstr>
      <vt:lpstr>Storage 1/8</vt:lpstr>
      <vt:lpstr>Storage  2/8</vt:lpstr>
      <vt:lpstr>Storage  3/8</vt:lpstr>
      <vt:lpstr>Storage 4/8</vt:lpstr>
      <vt:lpstr>Storage 5/8</vt:lpstr>
      <vt:lpstr>Storage 6/8</vt:lpstr>
      <vt:lpstr>Storage 7/8</vt:lpstr>
      <vt:lpstr>Storage 8/8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Knott, Candy [C]</cp:lastModifiedBy>
  <cp:revision>3877</cp:revision>
  <dcterms:created xsi:type="dcterms:W3CDTF">2020-03-23T21:46:17Z</dcterms:created>
  <dcterms:modified xsi:type="dcterms:W3CDTF">2026-08-05T09:00:42Z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2025-05-31T04:12:29Z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1811323a-fa7c-41d7-8cba-55d16847bbe1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